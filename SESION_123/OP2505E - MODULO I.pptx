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2b267f34f_4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2b267f34f_4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2b267f34f_2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2b267f34f_2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2b267f34f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2b267f34f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2b267f34f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2b267f34f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2b2fb56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2b2fb56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2b2fb562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2b2fb562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2b2fb562c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2b2fb562c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2b2fb562c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2b2fb562c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18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solidFill>
                  <a:schemeClr val="accent4"/>
                </a:solidFill>
              </a:rPr>
              <a:t> </a:t>
            </a:r>
            <a:r>
              <a:rPr lang="es-419" sz="3700">
                <a:solidFill>
                  <a:schemeClr val="accent5"/>
                </a:solidFill>
              </a:rPr>
              <a:t>Programa de Capacitación:</a:t>
            </a:r>
            <a:r>
              <a:rPr lang="es-419" sz="4300">
                <a:solidFill>
                  <a:schemeClr val="accent5"/>
                </a:solidFill>
              </a:rPr>
              <a:t> </a:t>
            </a:r>
            <a:endParaRPr sz="43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solidFill>
                  <a:schemeClr val="lt2"/>
                </a:solidFill>
              </a:rPr>
              <a:t>Ventas Técnicas en el Ecosistema WAPOSAT</a:t>
            </a:r>
            <a:endParaRPr sz="4700">
              <a:solidFill>
                <a:schemeClr val="lt2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050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Del Monitoreo a la Solución Integral de Impacto Social</a:t>
            </a:r>
            <a:endParaRPr/>
          </a:p>
        </p:txBody>
      </p:sp>
      <p:pic>
        <p:nvPicPr>
          <p:cNvPr id="56" name="Google Shape;56;p13" title="waposat-logo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8325" y="0"/>
            <a:ext cx="526732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58250" y="2203475"/>
            <a:ext cx="85206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300">
                <a:solidFill>
                  <a:schemeClr val="lt2"/>
                </a:solidFill>
              </a:rPr>
              <a:t>Entender que en waposat no vendemos solo un equipo, sino sistemas que le dan vida a los ríos  generando agua de calidad. </a:t>
            </a:r>
            <a:endParaRPr sz="5700">
              <a:solidFill>
                <a:schemeClr val="lt2"/>
              </a:solidFill>
            </a:endParaRPr>
          </a:p>
        </p:txBody>
      </p:sp>
      <p:pic>
        <p:nvPicPr>
          <p:cNvPr id="62" name="Google Shape;62;p14" title="waposat-logo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8338" y="0"/>
            <a:ext cx="526732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390875"/>
            <a:ext cx="8520600" cy="16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lt2"/>
                </a:solidFill>
              </a:rPr>
              <a:t>Rol de ventas </a:t>
            </a:r>
            <a:r>
              <a:rPr lang="es-419" sz="3500">
                <a:solidFill>
                  <a:schemeClr val="lt2"/>
                </a:solidFill>
              </a:rPr>
              <a:t>técnicas.</a:t>
            </a:r>
            <a:endParaRPr sz="35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500">
                <a:solidFill>
                  <a:schemeClr val="dk2"/>
                </a:solidFill>
              </a:rPr>
              <a:t>Vender soluciones de impacto social y operativo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>
              <a:solidFill>
                <a:schemeClr val="lt2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261800" y="1670575"/>
            <a:ext cx="44967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500">
                <a:solidFill>
                  <a:schemeClr val="accent5"/>
                </a:solidFill>
              </a:rPr>
              <a:t>Guachimán de los Ríos</a:t>
            </a:r>
            <a:endParaRPr b="1" sz="1500">
              <a:solidFill>
                <a:schemeClr val="accent5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lt2"/>
                </a:solidFill>
              </a:rPr>
              <a:t>Ofrecemos un guardián y operador autónomo que da vida a los ríos generando agua de calidad.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accent5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758500" y="1616975"/>
            <a:ext cx="440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29000" y="2721600"/>
            <a:ext cx="4404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accent5"/>
                </a:solidFill>
              </a:rPr>
              <a:t>Concepto clave </a:t>
            </a:r>
            <a:endParaRPr b="1" sz="1500">
              <a:solidFill>
                <a:schemeClr val="accent5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2"/>
                </a:solidFill>
              </a:rPr>
              <a:t>"No vendemos sensores de pH, vendemos tranquilidad" (evitando multas y enfermedades).</a:t>
            </a:r>
            <a:endParaRPr sz="1500">
              <a:solidFill>
                <a:schemeClr val="lt2"/>
              </a:solidFill>
            </a:endParaRPr>
          </a:p>
        </p:txBody>
      </p:sp>
      <p:pic>
        <p:nvPicPr>
          <p:cNvPr id="71" name="Google Shape;71;p15" title="Gemini_Generated_Image_crjebycrjebycrj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5550" y="2333700"/>
            <a:ext cx="3057644" cy="28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196900" y="3829800"/>
            <a:ext cx="494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accent4"/>
                </a:solidFill>
              </a:rPr>
              <a:t>Impacto en Salud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accent4"/>
                </a:solidFill>
              </a:rPr>
              <a:t>Combatimos enfermedades y mejoramos la salud en las zonas rurales con monitoreo en tiempo real.</a:t>
            </a:r>
            <a:endParaRPr sz="15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137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lt2"/>
                </a:solidFill>
              </a:rPr>
              <a:t>Identificación</a:t>
            </a:r>
            <a:r>
              <a:rPr lang="es-419" sz="3500">
                <a:solidFill>
                  <a:schemeClr val="lt2"/>
                </a:solidFill>
              </a:rPr>
              <a:t> de necesidades</a:t>
            </a:r>
            <a:endParaRPr sz="35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500">
              <a:solidFill>
                <a:schemeClr val="lt2"/>
              </a:solidFill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979800" y="1152475"/>
            <a:ext cx="3592200" cy="25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accent5"/>
                </a:solidFill>
              </a:rPr>
              <a:t>Detección de problemas: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2"/>
                </a:solidFill>
              </a:rPr>
              <a:t>Multas de SUNASS, cloro inestable o agua turbia.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>
                <a:solidFill>
                  <a:schemeClr val="lt2"/>
                </a:solidFill>
              </a:rPr>
              <a:t>Oportunidad para soluciones integrales.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4572000" y="1152475"/>
            <a:ext cx="3592200" cy="24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accent5"/>
                </a:solidFill>
              </a:rPr>
              <a:t>Preguntas clave para el cliente: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lt2"/>
                </a:solidFill>
              </a:rPr>
              <a:t>¿Cómo se entera hoy si el agua está contaminada?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>
                <a:solidFill>
                  <a:schemeClr val="lt2"/>
                </a:solidFill>
              </a:rPr>
              <a:t>¿La cloración es manual o "al ojo"?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192800" y="3642175"/>
            <a:ext cx="6758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accent4"/>
                </a:solidFill>
              </a:rPr>
              <a:t>Diferenciador</a:t>
            </a:r>
            <a:endParaRPr sz="20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accent4"/>
                </a:solidFill>
              </a:rPr>
              <a:t>Equipos con paneles solares para zonas sin conexión eléctrica.</a:t>
            </a:r>
            <a:endParaRPr sz="20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137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500">
                <a:solidFill>
                  <a:schemeClr val="lt2"/>
                </a:solidFill>
              </a:rPr>
              <a:t>Errores comunes </a:t>
            </a:r>
            <a:endParaRPr sz="35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500">
              <a:solidFill>
                <a:schemeClr val="lt2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1192800" y="3642175"/>
            <a:ext cx="6758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accent4"/>
                </a:solidFill>
              </a:rPr>
              <a:t>Recuerda: Primero valida la disponibilidad de los recursos necesarios para llevar a cabo los objetivos o metas señaladas.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831575" y="1328900"/>
            <a:ext cx="3592200" cy="1694100"/>
          </a:xfrm>
          <a:prstGeom prst="roundRect">
            <a:avLst>
              <a:gd fmla="val 20908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accent5"/>
                </a:solidFill>
                <a:highlight>
                  <a:schemeClr val="lt1"/>
                </a:highlight>
              </a:rPr>
              <a:t>Prometer y/o establecer integraciones con software externos sin respaldo técnico.</a:t>
            </a:r>
            <a:endParaRPr sz="1800">
              <a:solidFill>
                <a:schemeClr val="accent5"/>
              </a:solidFill>
              <a:highlight>
                <a:schemeClr val="lt1"/>
              </a:highlight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679900" y="1328900"/>
            <a:ext cx="3743700" cy="1769400"/>
          </a:xfrm>
          <a:prstGeom prst="roundRect">
            <a:avLst>
              <a:gd fmla="val 27726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800">
                <a:solidFill>
                  <a:schemeClr val="accent5"/>
                </a:solidFill>
              </a:rPr>
              <a:t>Ofrecer alcances de automatización compleja sin validar factibilidad.</a:t>
            </a:r>
            <a:endParaRPr sz="18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246608" y="14116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2"/>
                </a:solidFill>
              </a:rPr>
              <a:t>Conceptos de Automatización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246600" y="37941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Desmitificar la tecnología y mostrarla como herramienta de ahorro</a:t>
            </a:r>
            <a:endParaRPr/>
          </a:p>
        </p:txBody>
      </p:sp>
      <p:pic>
        <p:nvPicPr>
          <p:cNvPr id="95" name="Google Shape;95;p18" title="waposat-logo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8325" y="0"/>
            <a:ext cx="526732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ctrTitle"/>
          </p:nvPr>
        </p:nvSpPr>
        <p:spPr>
          <a:xfrm>
            <a:off x="857251" y="485100"/>
            <a:ext cx="7299300" cy="10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2"/>
                </a:solidFill>
              </a:rPr>
              <a:t>Automatización, pero porque?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857250" y="1801775"/>
            <a:ext cx="7027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0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Automatizar es ahorrar dinero (menos reactivos químicos y menos viajes al campo). Entender que este sistema nos permite ver lo que pasa en tiempo real para la toma de decisiones.</a:t>
            </a:r>
            <a:endParaRPr sz="20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857250" y="3355525"/>
            <a:ext cx="6691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La automatización no busca complicar sino resolver errores en tiempo real, una persona se olvida de clorar, nuestro sistema</a:t>
            </a:r>
            <a:endParaRPr sz="20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ctrTitle"/>
          </p:nvPr>
        </p:nvSpPr>
        <p:spPr>
          <a:xfrm>
            <a:off x="834151" y="223300"/>
            <a:ext cx="7299300" cy="10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2"/>
                </a:solidFill>
              </a:rPr>
              <a:t>¿Por qué automatizar?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8" name="Google Shape;108;p20"/>
          <p:cNvSpPr txBox="1"/>
          <p:nvPr>
            <p:ph idx="1" type="subTitle"/>
          </p:nvPr>
        </p:nvSpPr>
        <p:spPr>
          <a:xfrm>
            <a:off x="280900" y="12910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accent5"/>
                </a:solidFill>
              </a:rPr>
              <a:t>Menos reactivos químicos, menos viajes al campo y reducción de errores humanos.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280900" y="2083600"/>
            <a:ext cx="79425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accent4"/>
                </a:solidFill>
              </a:rPr>
              <a:t>Niveles de Operación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accent5"/>
                </a:solidFill>
              </a:rPr>
              <a:t>Manual: “Al ojo” 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lt2"/>
                </a:solidFill>
              </a:rPr>
              <a:t>El operador decide echar o no cloro basándose en percepción.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accent5"/>
                </a:solidFill>
              </a:rPr>
              <a:t>Semiautomático: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lt2"/>
                </a:solidFill>
              </a:rPr>
              <a:t>El equipo avisa pero el humano actúa.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accent5"/>
                </a:solidFill>
              </a:rPr>
              <a:t>Automático: 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lt2"/>
                </a:solidFill>
              </a:rPr>
              <a:t>El equipo mide y actúa según la norma. Sin intervención.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6329275" y="2386950"/>
            <a:ext cx="2472300" cy="1432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accent5"/>
                </a:solidFill>
              </a:rPr>
              <a:t>Automatizar</a:t>
            </a:r>
            <a:br>
              <a:rPr lang="es-419">
                <a:solidFill>
                  <a:schemeClr val="accent5"/>
                </a:solidFill>
              </a:rPr>
            </a:br>
            <a:endParaRPr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accent5"/>
                </a:solidFill>
              </a:rPr>
              <a:t>Menos reactivos químicos y menos viajes al campo.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ctrTitle"/>
          </p:nvPr>
        </p:nvSpPr>
        <p:spPr>
          <a:xfrm>
            <a:off x="857251" y="485100"/>
            <a:ext cx="7299300" cy="10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2"/>
                </a:solidFill>
              </a:rPr>
              <a:t>Comparación en cliente real.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1000975" y="1994275"/>
            <a:ext cx="3649800" cy="2640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2"/>
                </a:solidFill>
              </a:rPr>
              <a:t>Operación manual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2"/>
                </a:solidFill>
              </a:rPr>
              <a:t>“El operador de JASS prende la bomba </a:t>
            </a:r>
            <a:r>
              <a:rPr lang="es-419">
                <a:solidFill>
                  <a:srgbClr val="CC4125"/>
                </a:solidFill>
              </a:rPr>
              <a:t>cuando se acuerda</a:t>
            </a:r>
            <a:r>
              <a:rPr lang="es-419">
                <a:solidFill>
                  <a:schemeClr val="lt2"/>
                </a:solidFill>
              </a:rPr>
              <a:t>”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400"/>
              <a:buChar char="●"/>
            </a:pPr>
            <a:r>
              <a:rPr lang="es-419">
                <a:solidFill>
                  <a:schemeClr val="lt2"/>
                </a:solidFill>
              </a:rPr>
              <a:t>Depende de la memoria humana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400"/>
              <a:buChar char="●"/>
            </a:pPr>
            <a:r>
              <a:rPr lang="es-419">
                <a:solidFill>
                  <a:schemeClr val="lt2"/>
                </a:solidFill>
              </a:rPr>
              <a:t>Errores frecuentes en dosificación’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400"/>
              <a:buChar char="●"/>
            </a:pPr>
            <a:r>
              <a:rPr lang="es-419">
                <a:solidFill>
                  <a:schemeClr val="lt2"/>
                </a:solidFill>
              </a:rPr>
              <a:t>Desperdicio de reactivos químicos.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4934000" y="1994275"/>
            <a:ext cx="3649800" cy="2640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2"/>
                </a:solidFill>
              </a:rPr>
              <a:t>Operación automática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2"/>
                </a:solidFill>
              </a:rPr>
              <a:t>“Waposat detecta nivel bajo y</a:t>
            </a:r>
            <a:r>
              <a:rPr lang="es-419"/>
              <a:t> </a:t>
            </a:r>
            <a:r>
              <a:rPr lang="es-419">
                <a:solidFill>
                  <a:schemeClr val="accent5"/>
                </a:solidFill>
              </a:rPr>
              <a:t>activa bomba/dosificador sin intervención</a:t>
            </a:r>
            <a:r>
              <a:rPr lang="es-419"/>
              <a:t>”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</a:pPr>
            <a:r>
              <a:rPr lang="es-419">
                <a:solidFill>
                  <a:schemeClr val="lt2"/>
                </a:solidFill>
              </a:rPr>
              <a:t>Decisiones en tiempo real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</a:pPr>
            <a:r>
              <a:rPr lang="es-419">
                <a:solidFill>
                  <a:schemeClr val="lt2"/>
                </a:solidFill>
              </a:rPr>
              <a:t>Proceso predecible y estable</a:t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</a:pPr>
            <a:r>
              <a:rPr lang="es-419">
                <a:solidFill>
                  <a:schemeClr val="lt2"/>
                </a:solidFill>
              </a:rPr>
              <a:t>Cumplimiento de estándares\</a:t>
            </a:r>
            <a:endParaRPr>
              <a:solidFill>
                <a:schemeClr val="lt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2"/>
                </a:solidFill>
                <a:highlight>
                  <a:schemeClr val="accent5"/>
                </a:highlight>
              </a:rPr>
              <a:t>Más rentable</a:t>
            </a:r>
            <a:endParaRPr>
              <a:solidFill>
                <a:schemeClr val="lt2"/>
              </a:solidFill>
              <a:highlight>
                <a:schemeClr val="accent5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