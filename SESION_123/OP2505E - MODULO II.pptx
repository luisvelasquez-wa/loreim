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1C7F8A-A43A-49A2-BE46-5AD9D237B579}">
  <a:tblStyle styleId="{C21C7F8A-A43A-49A2-BE46-5AD9D237B5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b2f719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b2f719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2b2f71999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2b2f71999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b2f7199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b2f7199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2b2f71999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2b2f71999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b2f71999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b2f71999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696" y="1037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Niveles de Gestión Integral (Waposat)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7800" y="3419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Niveles de automatización</a:t>
            </a:r>
            <a:endParaRPr/>
          </a:p>
        </p:txBody>
      </p:sp>
      <p:pic>
        <p:nvPicPr>
          <p:cNvPr id="56" name="Google Shape;56;p13" title="waposat-logo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325" y="50925"/>
            <a:ext cx="52673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257800" y="813875"/>
            <a:ext cx="8520600" cy="11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000">
                <a:solidFill>
                  <a:schemeClr val="lt2"/>
                </a:solidFill>
              </a:rPr>
              <a:t>Entender las estaciones de waposat es crucial para poder proponer una estación básica de monitoreo hasta un sistema de control total.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65800" y="3224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Char char="●"/>
            </a:pPr>
            <a:r>
              <a:rPr lang="es-419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Asegurar al cliente que tendrá acceso a datos en todo momento y lugar, incluso en zonas sin energía convencional (uso de energía solar)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5800" y="2233100"/>
            <a:ext cx="661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Char char="●"/>
            </a:pPr>
            <a:r>
              <a:rPr lang="es-419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Aprender a diferenciar entre Monitoreo (Ver) y control (hacer).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65800" y="2762800"/>
            <a:ext cx="661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Char char="●"/>
            </a:pPr>
            <a:r>
              <a:rPr lang="es-419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Conectividad en cualquier lugar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235175" y="334675"/>
            <a:ext cx="8520600" cy="14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2"/>
                </a:solidFill>
              </a:rPr>
              <a:t>Si pasa A, haz B – Reglas de decisión automatizadas</a:t>
            </a:r>
            <a:endParaRPr sz="3500">
              <a:solidFill>
                <a:schemeClr val="lt2"/>
              </a:solidFill>
            </a:endParaRPr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606050" y="221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{C21C7F8A-A43A-49A2-BE46-5AD9D237B579}</a:tableStyleId>
              </a:tblPr>
              <a:tblGrid>
                <a:gridCol w="2764625"/>
                <a:gridCol w="2764625"/>
                <a:gridCol w="2764625"/>
              </a:tblGrid>
              <a:tr h="175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chemeClr val="lt2"/>
                          </a:solidFill>
                        </a:rPr>
                        <a:t>Nivel 1 – Monitoreo</a:t>
                      </a:r>
                      <a:endParaRPr sz="1500"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chemeClr val="accent5"/>
                          </a:solidFill>
                        </a:rPr>
                        <a:t>Tiempo real</a:t>
                      </a:r>
                      <a:endParaRPr sz="15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Ideal para fiscalización (SUNASS) y acceso a datos por internet.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chemeClr val="lt2"/>
                          </a:solidFill>
                        </a:rPr>
                        <a:t>Nivel 2 – Alertas </a:t>
                      </a:r>
                      <a:endParaRPr sz="1500"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chemeClr val="accent5"/>
                          </a:solidFill>
                        </a:rPr>
                        <a:t>Control simple</a:t>
                      </a:r>
                      <a:endParaRPr sz="15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El sistema ajusta la dosis si el cloro está bajo.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chemeClr val="lt2"/>
                          </a:solidFill>
                        </a:rPr>
                        <a:t>Nivel 3 – Gestión integral</a:t>
                      </a:r>
                      <a:endParaRPr sz="1500"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chemeClr val="accent5"/>
                          </a:solidFill>
                        </a:rPr>
                        <a:t>Ciclo completo</a:t>
                      </a:r>
                      <a:endParaRPr sz="15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Integración total del sistema de agua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Captación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Tratamiento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Char char="●"/>
                      </a:pPr>
                      <a:r>
                        <a:rPr lang="es-419" sz="1800">
                          <a:solidFill>
                            <a:schemeClr val="dk2"/>
                          </a:solidFill>
                        </a:rPr>
                        <a:t>Distribución.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0" y="188375"/>
            <a:ext cx="8520600" cy="14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2"/>
                </a:solidFill>
              </a:rPr>
              <a:t>Algunos errores comunes</a:t>
            </a:r>
            <a:endParaRPr sz="3500">
              <a:solidFill>
                <a:schemeClr val="lt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062575" y="1751575"/>
            <a:ext cx="72456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b="1" lang="es-419" sz="1800">
                <a:solidFill>
                  <a:schemeClr val="accent4"/>
                </a:solidFill>
              </a:rPr>
              <a:t>No sobre-vender:</a:t>
            </a:r>
            <a:r>
              <a:rPr lang="es-419" sz="1800">
                <a:solidFill>
                  <a:schemeClr val="accent4"/>
                </a:solidFill>
              </a:rPr>
              <a:t> Evitar ofrecer automatización compleja si la infraestructura hidráulica está en mal estado.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b="1" lang="es-419" sz="1800">
                <a:solidFill>
                  <a:schemeClr val="accent4"/>
                </a:solidFill>
              </a:rPr>
              <a:t>Validación técnica:</a:t>
            </a:r>
            <a:r>
              <a:rPr lang="es-419" sz="1800">
                <a:solidFill>
                  <a:schemeClr val="accent4"/>
                </a:solidFill>
              </a:rPr>
              <a:t> Involucrar a ingeniería cuando el requerimiento no es estándar.</a:t>
            </a:r>
            <a:endParaRPr sz="1800">
              <a:solidFill>
                <a:schemeClr val="accent4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b="1" lang="es-419" sz="1800">
                <a:solidFill>
                  <a:schemeClr val="accent4"/>
                </a:solidFill>
              </a:rPr>
              <a:t>Conclusión de ventas:</a:t>
            </a:r>
            <a:r>
              <a:rPr lang="es-419" sz="1800">
                <a:solidFill>
                  <a:schemeClr val="accent4"/>
                </a:solidFill>
              </a:rPr>
              <a:t> "Ofrecemos un sistema que ajusta la dosificación según la turbidez del río en tiempo real para evitar desperdicio de químicos".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0" y="154000"/>
            <a:ext cx="8520600" cy="19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2"/>
                </a:solidFill>
              </a:rPr>
              <a:t>Conclusiones clave</a:t>
            </a:r>
            <a:endParaRPr sz="35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accent3"/>
                </a:solidFill>
              </a:rPr>
              <a:t>“Le damos vida a los </a:t>
            </a:r>
            <a:r>
              <a:rPr lang="es-419" sz="3500">
                <a:solidFill>
                  <a:schemeClr val="accent3"/>
                </a:solidFill>
              </a:rPr>
              <a:t>ríos</a:t>
            </a:r>
            <a:r>
              <a:rPr lang="es-419" sz="3500">
                <a:solidFill>
                  <a:schemeClr val="accent3"/>
                </a:solidFill>
              </a:rPr>
              <a:t> y soluciones a las empresas”</a:t>
            </a:r>
            <a:endParaRPr sz="3500">
              <a:solidFill>
                <a:schemeClr val="accent3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947075" y="2494750"/>
            <a:ext cx="993300" cy="3849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947075" y="3482588"/>
            <a:ext cx="993300" cy="3849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947075" y="4339525"/>
            <a:ext cx="993300" cy="384900"/>
          </a:xfrm>
          <a:prstGeom prst="chevron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2048150" y="2317750"/>
            <a:ext cx="443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</a:rPr>
              <a:t>Ofrecemos tranquilidad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accent5"/>
                </a:solidFill>
              </a:rPr>
              <a:t>No sensores, sino salud y cumplimiento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2048150" y="3305600"/>
            <a:ext cx="602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</a:rPr>
              <a:t>Impacto real social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accent5"/>
                </a:solidFill>
              </a:rPr>
              <a:t>Agua de calidad para comunidades vulnerables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048150" y="4162525"/>
            <a:ext cx="662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</a:rPr>
              <a:t>Soluciones escalables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accent5"/>
                </a:solidFill>
              </a:rPr>
              <a:t>Desde monitoreo basico hasta </a:t>
            </a:r>
            <a:r>
              <a:rPr lang="es-419" sz="1800">
                <a:solidFill>
                  <a:schemeClr val="accent5"/>
                </a:solidFill>
              </a:rPr>
              <a:t>automatización</a:t>
            </a:r>
            <a:r>
              <a:rPr lang="es-419" sz="1800">
                <a:solidFill>
                  <a:schemeClr val="accent5"/>
                </a:solidFill>
              </a:rPr>
              <a:t> completa.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